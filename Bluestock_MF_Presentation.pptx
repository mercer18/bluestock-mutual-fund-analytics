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14B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0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FFFFFF"/>
                </a:solidFill>
                <a:latin typeface="Arial"/>
              </a:defRPr>
            </a:pPr>
            <a:r>
              <a:t>MUTUAL FUND ANALYTICS</a:t>
            </a:r>
          </a:p>
          <a:p>
            <a:pPr>
              <a:spcAft>
                <a:spcPts val="5000"/>
              </a:spcAft>
              <a:defRPr sz="2000">
                <a:solidFill>
                  <a:srgbClr val="EEEEEE"/>
                </a:solidFill>
                <a:latin typeface="Arial"/>
              </a:defRPr>
            </a:pPr>
            <a:r>
              <a:t>Capstone Project Final Release &amp; Dashboard Presentation</a:t>
            </a:r>
          </a:p>
          <a:p>
            <a:pPr>
              <a:defRPr sz="1300">
                <a:solidFill>
                  <a:srgbClr val="DDDDDD"/>
                </a:solidFill>
                <a:latin typeface="Arial"/>
              </a:defRPr>
            </a:pPr>
            <a:r>
              <a:t>Author: Rishi (Fintech Intern)   |   Date: June 2026   |   Bluestock Fintech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414BEA"/>
                </a:solidFill>
                <a:latin typeface="Arial"/>
              </a:defRPr>
            </a:pPr>
            <a:r>
              <a:t>PROBLEM STATEMENT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371600" cy="36576"/>
          </a:xfrm>
          <a:prstGeom prst="rect">
            <a:avLst/>
          </a:prstGeom>
          <a:solidFill>
            <a:srgbClr val="F0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F05537"/>
                </a:solidFill>
                <a:latin typeface="Arial"/>
              </a:defRPr>
            </a:pPr>
            <a:r>
              <a:t>THE PROBLEM</a:t>
            </a:r>
          </a:p>
          <a:p>
            <a:pPr>
              <a:spcAft>
                <a:spcPts val="1200"/>
              </a:spcAft>
              <a:defRPr sz="1400">
                <a:solidFill>
                  <a:srgbClr val="222222"/>
                </a:solidFill>
                <a:latin typeface="Arial"/>
              </a:defRPr>
            </a:pPr>
            <a:r>
              <a:t>• Retail wealth management portals typically suggest schemes based purely on nominal past returns.</a:t>
            </a:r>
          </a:p>
          <a:p>
            <a:pPr>
              <a:spcAft>
                <a:spcPts val="1200"/>
              </a:spcAft>
              <a:defRPr sz="1400">
                <a:solidFill>
                  <a:srgbClr val="222222"/>
                </a:solidFill>
                <a:latin typeface="Arial"/>
              </a:defRPr>
            </a:pPr>
            <a:r>
              <a:t>• Overlooking volatility, drawdowns, and benchmark sensitivity exposes retail portfolios to extreme unhedged market risks.</a:t>
            </a:r>
          </a:p>
          <a:p>
            <a:pPr>
              <a:spcAft>
                <a:spcPts val="1200"/>
              </a:spcAft>
              <a:defRPr sz="1400">
                <a:solidFill>
                  <a:srgbClr val="222222"/>
                </a:solidFill>
                <a:latin typeface="Arial"/>
              </a:defRPr>
            </a:pPr>
            <a:r>
              <a:t>• To compete effectively, advisors require quantitative scoring models (CAGR, Sharpe, VaR) paired with interactive BI dashboards.</a:t>
            </a:r>
          </a:p>
          <a:p>
            <a:pPr>
              <a:spcAft>
                <a:spcPts val="1200"/>
              </a:spcAft>
              <a:defRPr sz="1400">
                <a:solidFill>
                  <a:srgbClr val="222222"/>
                </a:solidFill>
                <a:latin typeface="Arial"/>
              </a:defRPr>
            </a:pPr>
            <a:r>
              <a:t>• Investor behavior patterns (like payment lapse/churn) need to be monitored systematically.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414BEA"/>
                </a:solidFill>
                <a:latin typeface="Arial"/>
              </a:defRPr>
            </a:pPr>
            <a:r>
              <a:t>PROJECT OBJECTIVES</a:t>
            </a:r>
          </a:p>
          <a:p>
            <a:pPr>
              <a:spcAft>
                <a:spcPts val="1200"/>
              </a:spcAft>
              <a:defRPr sz="1400">
                <a:solidFill>
                  <a:srgbClr val="222222"/>
                </a:solidFill>
                <a:latin typeface="Arial"/>
              </a:defRPr>
            </a:pPr>
            <a:r>
              <a:t>• Ingest 64k+ historical NAV records, investor demography, and portfolio files using robust python ETL scripts.</a:t>
            </a:r>
          </a:p>
          <a:p>
            <a:pPr>
              <a:spcAft>
                <a:spcPts val="1200"/>
              </a:spcAft>
              <a:defRPr sz="1400">
                <a:solidFill>
                  <a:srgbClr val="222222"/>
                </a:solidFill>
                <a:latin typeface="Arial"/>
              </a:defRPr>
            </a:pPr>
            <a:r>
              <a:t>• Model a relational SQLite Star Schema database with dimensions and facts to serve quick analytical queries.</a:t>
            </a:r>
          </a:p>
          <a:p>
            <a:pPr>
              <a:spcAft>
                <a:spcPts val="1200"/>
              </a:spcAft>
              <a:defRPr sz="1400">
                <a:solidFill>
                  <a:srgbClr val="222222"/>
                </a:solidFill>
                <a:latin typeface="Arial"/>
              </a:defRPr>
            </a:pPr>
            <a:r>
              <a:t>• Analyze distributions and customer segments (EDA) across age, state, city tier, and gender.</a:t>
            </a:r>
          </a:p>
          <a:p>
            <a:pPr>
              <a:spcAft>
                <a:spcPts val="1200"/>
              </a:spcAft>
              <a:defRPr sz="1400">
                <a:solidFill>
                  <a:srgbClr val="222222"/>
                </a:solidFill>
                <a:latin typeface="Arial"/>
              </a:defRPr>
            </a:pPr>
            <a:r>
              <a:t>• Calculate quantitative ratios (Sharpe, Sortino, Alpha, Beta, Max Drawdowns) and formulate a composite scorecard.</a:t>
            </a:r>
          </a:p>
          <a:p>
            <a:pPr>
              <a:spcAft>
                <a:spcPts val="1200"/>
              </a:spcAft>
              <a:defRPr sz="1400">
                <a:solidFill>
                  <a:srgbClr val="222222"/>
                </a:solidFill>
                <a:latin typeface="Arial"/>
              </a:defRPr>
            </a:pPr>
            <a:r>
              <a:t>• Implement risk modeling (Value at Risk 95%, CVaR, HHI index) and identify at-risk investor cohorts.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414BEA"/>
                </a:solidFill>
                <a:latin typeface="Arial"/>
              </a:defRPr>
            </a:pPr>
            <a:r>
              <a:t>DATA INGESTION &amp; INGESTION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371600" cy="36576"/>
          </a:xfrm>
          <a:prstGeom prst="rect">
            <a:avLst/>
          </a:prstGeom>
          <a:solidFill>
            <a:srgbClr val="F0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414BEA"/>
                </a:solidFill>
                <a:latin typeface="Arial"/>
              </a:defRPr>
            </a:pPr>
            <a:r>
              <a:t>API INGESTION ENGINE</a:t>
            </a:r>
          </a:p>
          <a:p>
            <a:pPr>
              <a:spcAft>
                <a:spcPts val="1200"/>
              </a:spcAft>
              <a:defRPr sz="1400">
                <a:solidFill>
                  <a:srgbClr val="222222"/>
                </a:solidFill>
                <a:latin typeface="Arial"/>
              </a:defRPr>
            </a:pPr>
            <a:r>
              <a:t>&lt;b&gt;Endpoint:&lt;/b&gt; Association of Mutual Funds in India (AMFI) open REST API (&lt;code&gt;mfapi.in&lt;/code&gt;).</a:t>
            </a:r>
          </a:p>
          <a:p>
            <a:pPr>
              <a:spcAft>
                <a:spcPts val="1200"/>
              </a:spcAft>
              <a:defRPr sz="1400">
                <a:solidFill>
                  <a:srgbClr val="222222"/>
                </a:solidFill>
                <a:latin typeface="Arial"/>
              </a:defRPr>
            </a:pPr>
            <a:r>
              <a:t>&lt;b&gt;Robust Ingestion:&lt;/b&gt; live_nav_fetch.py utilizes 15-second request timeouts and retries on Bad Gateway (502) errors.</a:t>
            </a:r>
          </a:p>
          <a:p>
            <a:pPr>
              <a:spcAft>
                <a:spcPts val="1200"/>
              </a:spcAft>
              <a:defRPr sz="1400">
                <a:solidFill>
                  <a:srgbClr val="222222"/>
                </a:solidFill>
                <a:latin typeface="Arial"/>
              </a:defRPr>
            </a:pPr>
            <a:r>
              <a:t>&lt;b&gt;Rate Limiting:&lt;/b&gt; Implements a 2-second delay between scheme hits to respect endpoints.</a:t>
            </a:r>
          </a:p>
          <a:p>
            <a:pPr>
              <a:spcAft>
                <a:spcPts val="1200"/>
              </a:spcAft>
              <a:defRPr sz="1400">
                <a:solidFill>
                  <a:srgbClr val="222222"/>
                </a:solidFill>
                <a:latin typeface="Arial"/>
              </a:defRPr>
            </a:pPr>
            <a:r>
              <a:t>&lt;b&gt;Data Volume Ingested:&lt;/b&gt;&lt;br/&gt;  - 40 unique mutual fund schemes&lt;br/&gt;  - 64,320 historical NAV rows (spanning 4.4 years)&lt;br/&gt;  - 32,778 transaction lines&lt;br/&gt;  - 940 portfolio holding 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05537"/>
                </a:solidFill>
                <a:latin typeface="Arial"/>
              </a:defRPr>
            </a:pPr>
            <a:r>
              <a:t>METADATA DICTIONARY (dim_fund)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2103120"/>
          <a:ext cx="53949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97280"/>
                <a:gridCol w="2926080"/>
              </a:tblGrid>
              <a:tr h="5334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 Name</a:t>
                      </a:r>
                    </a:p>
                  </a:txBody>
                  <a:tcPr>
                    <a:solidFill>
                      <a:srgbClr val="414B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414B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414BE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amfi_code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INTEGER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Unique assigned scheme code (PK)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scheme_name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VARCHAR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Name of the fund scheme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VARCHAR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Equity, Debt, Hybrid, etc.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expense_ratio_pct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DECIMAL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Annual fund management fee %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benchmark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VARCHAR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Benchmark index (e.g. Nifty 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414BEA"/>
                </a:solidFill>
                <a:latin typeface="Arial"/>
              </a:defRPr>
            </a:pPr>
            <a:r>
              <a:t>RELATIONAL DATABASE STAR SCHEMA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371600" cy="36576"/>
          </a:xfrm>
          <a:prstGeom prst="rect">
            <a:avLst/>
          </a:prstGeom>
          <a:solidFill>
            <a:srgbClr val="F0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414BEA"/>
                </a:solidFill>
                <a:latin typeface="Arial"/>
              </a:defRPr>
            </a:pPr>
            <a:r>
              <a:t>SQLITE DATABASE ARCHITECTURE (bluestock_mf.db)</a:t>
            </a:r>
          </a:p>
          <a:p>
            <a:pPr>
              <a:spcAft>
                <a:spcPts val="2000"/>
              </a:spcAft>
              <a:defRPr sz="1400">
                <a:latin typeface="Arial"/>
              </a:defRPr>
            </a:pPr>
            <a:r>
              <a:t>We configured a Star Schema structure to decouple dimensional details from high-volume transaction facts.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560320"/>
            <a:ext cx="3291840" cy="3291840"/>
          </a:xfrm>
          <a:prstGeom prst="roundRect">
            <a:avLst/>
          </a:prstGeom>
          <a:solidFill>
            <a:srgbClr val="F5F5FA"/>
          </a:solidFill>
          <a:ln>
            <a:solidFill>
              <a:srgbClr val="414B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222222"/>
                </a:solidFill>
                <a:latin typeface="Arial"/>
              </a:defRPr>
            </a:pPr>
            <a:r>
              <a:t>SHARED DIMENSIONS</a:t>
            </a:r>
            <a:br/>
            <a:br/>
            <a:r>
              <a:t>• dim_fund</a:t>
            </a:r>
            <a:br/>
            <a:r>
              <a:t>  (amfi_code, scheme_name, expense_ratio_pct, category, benchmark)</a:t>
            </a:r>
            <a:br/>
            <a:br/>
            <a:r>
              <a:t>• dim_date</a:t>
            </a:r>
            <a:br/>
            <a:r>
              <a:t>  (date, year, month, day, quarter, day_name)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023360" y="3931920"/>
            <a:ext cx="457200" cy="274320"/>
          </a:xfrm>
          <a:prstGeom prst="rightArrow">
            <a:avLst/>
          </a:prstGeom>
          <a:solidFill>
            <a:srgbClr val="F0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63440" y="2560320"/>
            <a:ext cx="3840480" cy="3291840"/>
          </a:xfrm>
          <a:prstGeom prst="roundRect">
            <a:avLst/>
          </a:prstGeom>
          <a:solidFill>
            <a:srgbClr val="414BEA"/>
          </a:solidFill>
          <a:ln>
            <a:solidFill>
              <a:srgbClr val="414B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TRANSACTION &amp; NAV FACTS</a:t>
            </a:r>
            <a:br/>
            <a:br/>
            <a:r>
              <a:t>• fact_nav (nav, date, amfi_code)</a:t>
            </a:r>
            <a:br/>
            <a:br/>
            <a:r>
              <a:t>• fact_transactions (amount, type, date, investor_id, amfi_code)</a:t>
            </a:r>
            <a:br/>
            <a:br/>
            <a:r>
              <a:t>• fact_portfolio (weight_pct, sector, stock_name, amfi_code)</a:t>
            </a:r>
            <a:br/>
            <a:br/>
            <a:r>
              <a:t>• fact_aum (aum_inr_crores, date, amfi_code)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686800" y="3931920"/>
            <a:ext cx="457200" cy="274320"/>
          </a:xfrm>
          <a:prstGeom prst="rightArrow">
            <a:avLst/>
          </a:prstGeom>
          <a:solidFill>
            <a:srgbClr val="F0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26880" y="2560320"/>
            <a:ext cx="2286000" cy="3291840"/>
          </a:xfrm>
          <a:prstGeom prst="roundRect">
            <a:avLst/>
          </a:prstGeom>
          <a:solidFill>
            <a:srgbClr val="F5F5FA"/>
          </a:solidFill>
          <a:ln>
            <a:solidFill>
              <a:srgbClr val="F05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222222"/>
                </a:solidFill>
                <a:latin typeface="Arial"/>
              </a:defRPr>
            </a:pPr>
            <a:r>
              <a:t>BUSINESS BENEFITS</a:t>
            </a:r>
            <a:br/>
            <a:br/>
            <a:r>
              <a:t>• Faster aggregation</a:t>
            </a:r>
            <a:br/>
            <a:r>
              <a:t>• Simple BI joins</a:t>
            </a:r>
            <a:br/>
            <a:r>
              <a:t>• Prevents anomalies</a:t>
            </a:r>
            <a:br/>
            <a:r>
              <a:t>• Index optimized queries (&lt;15ms)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414BEA"/>
                </a:solidFill>
                <a:latin typeface="Arial"/>
              </a:defRPr>
            </a:pPr>
            <a:r>
              <a:t>EXPLORATORY DATA ANALYSIS: DEMOGRAPHICS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371600" cy="36576"/>
          </a:xfrm>
          <a:prstGeom prst="rect">
            <a:avLst/>
          </a:prstGeom>
          <a:solidFill>
            <a:srgbClr val="F0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414BEA"/>
                </a:solidFill>
                <a:latin typeface="Arial"/>
              </a:defRPr>
            </a:pPr>
            <a:r>
              <a:t>INVESTOR SEGMENTATION PROFILE</a:t>
            </a:r>
          </a:p>
          <a:p>
            <a:pPr>
              <a:spcAft>
                <a:spcPts val="1500"/>
              </a:spcAft>
              <a:defRPr sz="1400">
                <a:solidFill>
                  <a:srgbClr val="222222"/>
                </a:solidFill>
                <a:latin typeface="Arial"/>
              </a:defRPr>
            </a:pPr>
            <a:r>
              <a:t>&lt;b&gt;Age distribution:&lt;/b&gt; Active investors are concentrated in the **25-40 age cohort**, showing strong retail interest from young professionals. Average SIP size peaks in the **35-45 age bracket**.</a:t>
            </a:r>
          </a:p>
          <a:p>
            <a:pPr>
              <a:spcAft>
                <a:spcPts val="1500"/>
              </a:spcAft>
              <a:defRPr sz="1400">
                <a:solidFill>
                  <a:srgbClr val="222222"/>
                </a:solidFill>
                <a:latin typeface="Arial"/>
              </a:defRPr>
            </a:pPr>
            <a:r>
              <a:t>&lt;b&gt;Gender distribution:&lt;/b&gt; Customer transaction volume split: **63.4% Male and 36.6% Female**; average investment ticket sizes are comparable across genders.</a:t>
            </a:r>
          </a:p>
          <a:p>
            <a:pPr>
              <a:spcAft>
                <a:spcPts val="1500"/>
              </a:spcAft>
              <a:defRPr sz="1400">
                <a:solidFill>
                  <a:srgbClr val="222222"/>
                </a:solidFill>
                <a:latin typeface="Arial"/>
              </a:defRPr>
            </a:pPr>
            <a:r>
              <a:t>&lt;b&gt;Geographical highlights:&lt;/b&gt; Maharashtra, Karnataka, and Delhi represent the top states by cumulative inflows. Gujarat and Tamil Nadu lead in average ticket size.</a:t>
            </a:r>
          </a:p>
        </p:txBody>
      </p:sp>
      <p:pic>
        <p:nvPicPr>
          <p:cNvPr id="5" name="Picture 4" descr="05_age_demograph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39776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414BEA"/>
                </a:solidFill>
                <a:latin typeface="Arial"/>
              </a:defRPr>
            </a:pPr>
            <a:r>
              <a:t>EXPLORATORY DATA ANALYSIS: FINANCIAL TRENDS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371600" cy="36576"/>
          </a:xfrm>
          <a:prstGeom prst="rect">
            <a:avLst/>
          </a:prstGeom>
          <a:solidFill>
            <a:srgbClr val="F0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414BEA"/>
                </a:solidFill>
                <a:latin typeface="Arial"/>
              </a:defRPr>
            </a:pPr>
            <a:r>
              <a:t>INFLOW PATTERNS &amp; PORTFOLIOS</a:t>
            </a:r>
          </a:p>
          <a:p>
            <a:pPr>
              <a:spcAft>
                <a:spcPts val="1500"/>
              </a:spcAft>
              <a:defRPr sz="1400">
                <a:solidFill>
                  <a:srgbClr val="222222"/>
                </a:solidFill>
                <a:latin typeface="Arial"/>
              </a:defRPr>
            </a:pPr>
            <a:r>
              <a:t>&lt;b&gt;SIP Inflow growth:&lt;/b&gt; Aggregated transactions show steady month-on-month compounding growth in systematic plans, establishing a highly predictable AUM growth baseline.</a:t>
            </a:r>
          </a:p>
          <a:p>
            <a:pPr>
              <a:spcAft>
                <a:spcPts val="1500"/>
              </a:spcAft>
              <a:defRPr sz="1400">
                <a:solidFill>
                  <a:srgbClr val="222222"/>
                </a:solidFill>
                <a:latin typeface="Arial"/>
              </a:defRPr>
            </a:pPr>
            <a:r>
              <a:t>&lt;b&gt;Sector Allocation:&lt;/b&gt; Holdings show high sector concentration in **Financial Services (34.2%)** and **Information Technology (18.6%)** across active portfolios.</a:t>
            </a:r>
          </a:p>
          <a:p>
            <a:pPr>
              <a:spcAft>
                <a:spcPts val="1500"/>
              </a:spcAft>
              <a:defRPr sz="1400">
                <a:solidFill>
                  <a:srgbClr val="222222"/>
                </a:solidFill>
                <a:latin typeface="Arial"/>
              </a:defRPr>
            </a:pPr>
            <a:r>
              <a:t>&lt;b&gt;Folio Growth:&lt;/b&gt; Folio count has increased by 14% year-on-year, proving increasing penetration of digital payment modes (UPI/Netbanking).</a:t>
            </a:r>
          </a:p>
        </p:txBody>
      </p:sp>
      <p:pic>
        <p:nvPicPr>
          <p:cNvPr id="5" name="Picture 4" descr="12_sector_allocation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39776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414BEA"/>
                </a:solidFill>
                <a:latin typeface="Arial"/>
              </a:defRPr>
            </a:pPr>
            <a:r>
              <a:t>PERFORMANCE SCORECARD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371600" cy="36576"/>
          </a:xfrm>
          <a:prstGeom prst="rect">
            <a:avLst/>
          </a:prstGeom>
          <a:solidFill>
            <a:srgbClr val="F0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6217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14BEA"/>
                </a:solidFill>
                <a:latin typeface="Arial"/>
              </a:defRPr>
            </a:pPr>
            <a:r>
              <a:t>FUND COMPOSITE SCORECARD RANKINGS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03120"/>
          <a:ext cx="62179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097280"/>
                <a:gridCol w="1097280"/>
                <a:gridCol w="1097280"/>
              </a:tblGrid>
              <a:tr h="6096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Scheme Name</a:t>
                      </a:r>
                    </a:p>
                  </a:txBody>
                  <a:tcPr>
                    <a:solidFill>
                      <a:srgbClr val="414B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3-Yr CAGR</a:t>
                      </a:r>
                    </a:p>
                  </a:txBody>
                  <a:tcPr>
                    <a:solidFill>
                      <a:srgbClr val="414B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Volatility</a:t>
                      </a:r>
                    </a:p>
                  </a:txBody>
                  <a:tcPr>
                    <a:solidFill>
                      <a:srgbClr val="414B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Sharpe</a:t>
                      </a:r>
                    </a:p>
                  </a:txBody>
                  <a:tcPr>
                    <a:solidFill>
                      <a:srgbClr val="414BE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Mirae Asset Large Cap Fund - Reg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34.00%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15.34%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1.07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ICICI Pru Midcap Fund - Reg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31.78%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18.22%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0.88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Kotak Flexicap Fund - Reg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29.58%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16.10%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0.97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HDFC Mid-Cap Opportunities - Reg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32.44%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17.90%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0.81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SBI Bluechip Fund - 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30.46%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16.20%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0.86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9494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F05537"/>
                </a:solidFill>
                <a:latin typeface="Arial"/>
              </a:defRPr>
            </a:pPr>
            <a:r>
              <a:t>METHODOLOGY</a:t>
            </a:r>
          </a:p>
          <a:p>
            <a:pPr>
              <a:spcAft>
                <a:spcPts val="1500"/>
              </a:spcAft>
              <a:defRPr sz="1350">
                <a:solidFill>
                  <a:srgbClr val="222222"/>
                </a:solidFill>
                <a:latin typeface="Arial"/>
              </a:defRPr>
            </a:pPr>
            <a:r>
              <a:t>&lt;b&gt;Weighted Composite Score:&lt;/b&gt; we constructed a composite scorecard using the following weights:&lt;br/&gt;  - 3-Yr CAGR (30%)&lt;br/&gt;  - Sharpe Ratio (25%)&lt;br/&gt;  - Annualized Alpha (20%)&lt;br/&gt;  - Expense Ratio (15%)&lt;br/&gt;  - Maximum Drawdown (10%)</a:t>
            </a:r>
          </a:p>
          <a:p>
            <a:pPr>
              <a:spcAft>
                <a:spcPts val="1500"/>
              </a:spcAft>
              <a:defRPr sz="1350">
                <a:solidFill>
                  <a:srgbClr val="222222"/>
                </a:solidFill>
                <a:latin typeface="Arial"/>
              </a:defRPr>
            </a:pPr>
            <a:r>
              <a:t>&lt;b&gt;Outperformance:&lt;/b&gt; Mirae Asset Large Cap Fund ranked 1st due to its high Sharpe (1.07) and low Expense Ratio (1.46%).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414BEA"/>
                </a:solidFill>
                <a:latin typeface="Arial"/>
              </a:defRPr>
            </a:pPr>
            <a:r>
              <a:t>RISK-ADJUSTED RETURNS &amp; DRAWDOWNS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371600" cy="36576"/>
          </a:xfrm>
          <a:prstGeom prst="rect">
            <a:avLst/>
          </a:prstGeom>
          <a:solidFill>
            <a:srgbClr val="F0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414BEA"/>
                </a:solidFill>
                <a:latin typeface="Arial"/>
              </a:defRPr>
            </a:pPr>
            <a:r>
              <a:t>RISK AND DRAWDOWN HIGHLIGHTS</a:t>
            </a:r>
          </a:p>
          <a:p>
            <a:pPr>
              <a:spcAft>
                <a:spcPts val="1500"/>
              </a:spcAft>
              <a:defRPr sz="1400">
                <a:solidFill>
                  <a:srgbClr val="222222"/>
                </a:solidFill>
                <a:latin typeface="Arial"/>
              </a:defRPr>
            </a:pPr>
            <a:r>
              <a:t>&lt;b&gt;Manager Alpha:&lt;/b&gt; SBI Small Cap Fund generated an annualized active Alpha of **21.69%**, indicating high manager selection capability.</a:t>
            </a:r>
          </a:p>
          <a:p>
            <a:pPr>
              <a:spcAft>
                <a:spcPts val="1500"/>
              </a:spcAft>
              <a:defRPr sz="1400">
                <a:solidFill>
                  <a:srgbClr val="222222"/>
                </a:solidFill>
                <a:latin typeface="Arial"/>
              </a:defRPr>
            </a:pPr>
            <a:r>
              <a:t>&lt;b&gt;Systematic Beta:&lt;/b&gt; Small cap funds display Beta values of **1.15 to 1.35**, while debt funds display values below **0.15**.</a:t>
            </a:r>
          </a:p>
          <a:p>
            <a:pPr>
              <a:spcAft>
                <a:spcPts val="1500"/>
              </a:spcAft>
              <a:defRPr sz="1400">
                <a:solidFill>
                  <a:srgbClr val="222222"/>
                </a:solidFill>
                <a:latin typeface="Arial"/>
              </a:defRPr>
            </a:pPr>
            <a:r>
              <a:t>&lt;b&gt;Max Drawdowns:&lt;/b&gt; Worst drawdowns occurred during mid-2024 (DSP Small Cap at -31.17%), requiring 182 days to recover to previous peak NAVs.</a:t>
            </a:r>
          </a:p>
        </p:txBody>
      </p:sp>
      <p:pic>
        <p:nvPicPr>
          <p:cNvPr id="5" name="Picture 4" descr="benchmark_comparis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39776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414BEA"/>
                </a:solidFill>
                <a:latin typeface="Arial"/>
              </a:defRPr>
            </a:pPr>
            <a:r>
              <a:t>ADVANCED RISK MODELING: VAR &amp; HHI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371600" cy="36576"/>
          </a:xfrm>
          <a:prstGeom prst="rect">
            <a:avLst/>
          </a:prstGeom>
          <a:solidFill>
            <a:srgbClr val="F0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414BEA"/>
                </a:solidFill>
                <a:latin typeface="Arial"/>
              </a:defRPr>
            </a:pPr>
            <a:r>
              <a:t>POTENTIAL TAIL LOSS &amp; CONCENTRATION</a:t>
            </a:r>
          </a:p>
          <a:p>
            <a:pPr>
              <a:spcAft>
                <a:spcPts val="1200"/>
              </a:spcAft>
              <a:defRPr sz="1350">
                <a:solidFill>
                  <a:srgbClr val="222222"/>
                </a:solidFill>
                <a:latin typeface="Arial"/>
              </a:defRPr>
            </a:pPr>
            <a:r>
              <a:t>&lt;b&gt;Value at Risk (95% VaR):&lt;/b&gt; Calculates daily tail losses. ABSL Small Cap displays the worst potential loss (-2.39% daily), while liquid funds show very low tail risk (-0.02% daily).</a:t>
            </a:r>
          </a:p>
          <a:p>
            <a:pPr>
              <a:spcAft>
                <a:spcPts val="1200"/>
              </a:spcAft>
              <a:defRPr sz="1350">
                <a:solidFill>
                  <a:srgbClr val="222222"/>
                </a:solidFill>
                <a:latin typeface="Arial"/>
              </a:defRPr>
            </a:pPr>
            <a:r>
              <a:t>&lt;b&gt;Conditional VaR (95% CVaR):&lt;/b&gt; Evaluates the expected loss beyond the VaR threshold. CVaR for Small Cap funds averages **-3.03%** daily.</a:t>
            </a:r>
          </a:p>
          <a:p>
            <a:pPr>
              <a:spcAft>
                <a:spcPts val="1200"/>
              </a:spcAft>
              <a:defRPr sz="1350">
                <a:solidFill>
                  <a:srgbClr val="222222"/>
                </a:solidFill>
                <a:latin typeface="Arial"/>
              </a:defRPr>
            </a:pPr>
            <a:r>
              <a:t>&lt;b&gt;Sector HHI Index:&lt;/b&gt; Measures portfolio stock concentration. High concentration (HHI &gt; 800) is observed in focused equity and large cap funds, while Flexi Cap schemes are highly diversified (HHI &lt; 300).</a:t>
            </a:r>
          </a:p>
        </p:txBody>
      </p:sp>
      <p:pic>
        <p:nvPicPr>
          <p:cNvPr id="5" name="Picture 4" descr="rolling_sharp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39776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414BEA"/>
                </a:solidFill>
                <a:latin typeface="Arial"/>
              </a:defRPr>
            </a:pPr>
            <a:r>
              <a:t>INVESTOR COHORTS &amp; SIP CONTINUITY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371600" cy="36576"/>
          </a:xfrm>
          <a:prstGeom prst="rect">
            <a:avLst/>
          </a:prstGeom>
          <a:solidFill>
            <a:srgbClr val="F0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14BEA"/>
                </a:solidFill>
                <a:latin typeface="Arial"/>
              </a:defRPr>
            </a:pPr>
            <a:r>
              <a:t>LIFECYCLE COHORT ANALYSIS</a:t>
            </a:r>
          </a:p>
          <a:p>
            <a:br/>
            <a:pPr>
              <a:defRPr sz="1200">
                <a:solidFill>
                  <a:srgbClr val="666666"/>
                </a:solidFill>
                <a:latin typeface="Arial"/>
              </a:defRPr>
            </a:pPr>
            <a:r>
              <a:t>*Older cohorts display higher AUM and ticket size stability.*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0312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2286000"/>
              </a:tblGrid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Cohort Year</a:t>
                      </a:r>
                    </a:p>
                  </a:txBody>
                  <a:tcPr>
                    <a:solidFill>
                      <a:srgbClr val="414B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Avg SIP Amount</a:t>
                      </a:r>
                    </a:p>
                  </a:txBody>
                  <a:tcPr>
                    <a:solidFill>
                      <a:srgbClr val="414B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Total Invested (INR)</a:t>
                      </a:r>
                    </a:p>
                  </a:txBody>
                  <a:tcPr>
                    <a:solidFill>
                      <a:srgbClr val="414BE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2024 Cohort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₹5,412.30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₹7.85 Crores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2025 Cohort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₹4,982.10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₹5.22 Crores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2026 Cohort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₹4,120.50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₹1.95 Crores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64592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F05537"/>
                </a:solidFill>
                <a:latin typeface="Arial"/>
              </a:defRPr>
            </a:pPr>
            <a:r>
              <a:t>SIP CONTINUITY DAY GAPS</a:t>
            </a:r>
          </a:p>
          <a:p>
            <a:pPr>
              <a:spcAft>
                <a:spcPts val="1200"/>
              </a:spcAft>
              <a:defRPr sz="1350">
                <a:solidFill>
                  <a:srgbClr val="222222"/>
                </a:solidFill>
                <a:latin typeface="Arial"/>
              </a:defRPr>
            </a:pPr>
            <a:r>
              <a:t>&lt;b&gt;Payment Continuity:&lt;/b&gt; For accounts with 6+ SIPs, we tracked day intervals between consecutive debits.</a:t>
            </a:r>
          </a:p>
          <a:p>
            <a:pPr>
              <a:spcAft>
                <a:spcPts val="1200"/>
              </a:spcAft>
              <a:defRPr sz="1350">
                <a:solidFill>
                  <a:srgbClr val="222222"/>
                </a:solidFill>
                <a:latin typeface="Arial"/>
              </a:defRPr>
            </a:pPr>
            <a:r>
              <a:t>&lt;b&gt;Continuity Rate:&lt;/b&gt; **88.5%** of investors maintain highly disciplined schedules (gaps &lt;= 31 days).</a:t>
            </a:r>
          </a:p>
          <a:p>
            <a:pPr>
              <a:spcAft>
                <a:spcPts val="1200"/>
              </a:spcAft>
              <a:defRPr sz="1350">
                <a:solidFill>
                  <a:srgbClr val="222222"/>
                </a:solidFill>
                <a:latin typeface="Arial"/>
              </a:defRPr>
            </a:pPr>
            <a:r>
              <a:t>&lt;b&gt;At-Risk Accounts:&lt;/b&gt; **11.5%** of investors display irregular payment gaps exceeding **35 days**, representing churn risk.</a:t>
            </a:r>
          </a:p>
          <a:p>
            <a:pPr>
              <a:spcAft>
                <a:spcPts val="1200"/>
              </a:spcAft>
              <a:defRPr sz="1350">
                <a:solidFill>
                  <a:srgbClr val="222222"/>
                </a:solidFill>
                <a:latin typeface="Arial"/>
              </a:defRPr>
            </a:pPr>
            <a:r>
              <a:t>&lt;b&gt;Action Item:&lt;/b&gt; Setup automated notifications in the investor portal to prompt accounts before their next debit cycle.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414BEA"/>
                </a:solidFill>
                <a:latin typeface="Arial"/>
              </a:defRPr>
            </a:pPr>
            <a:r>
              <a:t>POWER BI DASHBOARD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371600" cy="36576"/>
          </a:xfrm>
          <a:prstGeom prst="rect">
            <a:avLst/>
          </a:prstGeom>
          <a:solidFill>
            <a:srgbClr val="F0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414BEA"/>
                </a:solidFill>
                <a:latin typeface="Arial"/>
              </a:defRPr>
            </a:pPr>
            <a:r>
              <a:t>EXECUTIVE REPORTING HUB</a:t>
            </a:r>
          </a:p>
          <a:p>
            <a:pPr>
              <a:spcAft>
                <a:spcPts val="1200"/>
              </a:spcAft>
              <a:defRPr sz="1300">
                <a:solidFill>
                  <a:srgbClr val="222222"/>
                </a:solidFill>
                <a:latin typeface="Arial"/>
              </a:defRPr>
            </a:pPr>
            <a:r>
              <a:t>&lt;b&gt;Page 1: Industry Overview:&lt;/b&gt; high-level aggregation of net inflows, active folio growth, and treemap of category AUM.</a:t>
            </a:r>
          </a:p>
          <a:p>
            <a:pPr>
              <a:spcAft>
                <a:spcPts val="1200"/>
              </a:spcAft>
              <a:defRPr sz="1300">
                <a:solidFill>
                  <a:srgbClr val="222222"/>
                </a:solidFill>
                <a:latin typeface="Arial"/>
              </a:defRPr>
            </a:pPr>
            <a:r>
              <a:t>&lt;b&gt;Page 2: Fund Performance:&lt;/b&gt; Return vs Volatility scatter plot, active scorecard ranking, NAV historical trends.</a:t>
            </a:r>
          </a:p>
          <a:p>
            <a:pPr>
              <a:spcAft>
                <a:spcPts val="1200"/>
              </a:spcAft>
              <a:defRPr sz="1300">
                <a:solidFill>
                  <a:srgbClr val="222222"/>
                </a:solidFill>
                <a:latin typeface="Arial"/>
              </a:defRPr>
            </a:pPr>
            <a:r>
              <a:t>&lt;b&gt;Page 3: Investor Analytics:&lt;/b&gt; Heatmap of transaction amounts by state, age distribution vs ticket size.</a:t>
            </a:r>
          </a:p>
          <a:p>
            <a:pPr>
              <a:spcAft>
                <a:spcPts val="1200"/>
              </a:spcAft>
              <a:defRPr sz="1300">
                <a:solidFill>
                  <a:srgbClr val="222222"/>
                </a:solidFill>
                <a:latin typeface="Arial"/>
              </a:defRPr>
            </a:pPr>
            <a:r>
              <a:t>&lt;b&gt;Page 4: SIP &amp; Market Trends:&lt;/b&gt; Dual axis chart (SIP inflow vs Nifty index close value) showing market momentum correlations.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F05537"/>
                </a:solidFill>
                <a:latin typeface="Arial"/>
              </a:defRPr>
            </a:pPr>
            <a:r>
              <a:t>DASHBOARD DESIGN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286000"/>
            <a:ext cx="5394960" cy="3291840"/>
          </a:xfrm>
          <a:prstGeom prst="roundRect">
            <a:avLst/>
          </a:prstGeom>
          <a:solidFill>
            <a:srgbClr val="F5F5FA"/>
          </a:solidFill>
          <a:ln>
            <a:solidFill>
              <a:srgbClr val="414B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222222"/>
                </a:solidFill>
                <a:latin typeface="Arial"/>
              </a:defRPr>
            </a:pPr>
            <a:r>
              <a:t>UI SPECIFICATION (bluestock_theme.json)</a:t>
            </a:r>
            <a:br/>
            <a:br/>
            <a:r>
              <a:t>• Primary Color: #414BEA (Bluestock Blue)</a:t>
            </a:r>
            <a:br/>
            <a:r>
              <a:t>• Secondary Color: #F05537 (Bluestock Coral/Orange)</a:t>
            </a:r>
            <a:br/>
            <a:r>
              <a:t>• Gridlines: Light Gray (#eeeeee)</a:t>
            </a:r>
            <a:br/>
            <a:r>
              <a:t>• Border Corner Radius: 10px rounded card borders</a:t>
            </a:r>
            <a:br/>
            <a:r>
              <a:t>• Font Family: Segoe UI for uniform modern styling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14B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0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CONCLUSION &amp; FUTURE SCOPE</a:t>
            </a:r>
          </a:p>
          <a:p>
            <a:pPr>
              <a:spcAft>
                <a:spcPts val="1500"/>
              </a:spcAft>
              <a:defRPr sz="1600">
                <a:solidFill>
                  <a:srgbClr val="EEEEEE"/>
                </a:solidFill>
                <a:latin typeface="Arial"/>
              </a:defRPr>
            </a:pPr>
            <a:r>
              <a:t>&lt;b&gt;1. Machine Learning recommendations:&lt;/b&gt; integrate a collaborative filtering model into the investor portal to recommend mutual funds based on demographic profiles.</a:t>
            </a:r>
          </a:p>
          <a:p>
            <a:pPr>
              <a:spcAft>
                <a:spcPts val="1500"/>
              </a:spcAft>
              <a:defRPr sz="1600">
                <a:solidFill>
                  <a:srgbClr val="EEEEEE"/>
                </a:solidFill>
                <a:latin typeface="Arial"/>
              </a:defRPr>
            </a:pPr>
            <a:r>
              <a:t>&lt;b&gt;2. Churn Prevention Model:&lt;/b&gt; train a Random Forest classifier using computed SIP continuity day gaps to flag users likely to stop systematic payments.</a:t>
            </a:r>
          </a:p>
          <a:p>
            <a:pPr>
              <a:spcAft>
                <a:spcPts val="1500"/>
              </a:spcAft>
              <a:defRPr sz="1600">
                <a:solidFill>
                  <a:srgbClr val="EEEEEE"/>
                </a:solidFill>
                <a:latin typeface="Arial"/>
              </a:defRPr>
            </a:pPr>
            <a:r>
              <a:t>&lt;b&gt;3. Portfolio Optimization:&lt;/b&gt; add a modern portfolio theory (MPT) optimizer allowing users to adjust asset weights to maximize Sharpe ratio.</a:t>
            </a:r>
          </a:p>
          <a:p>
            <a:br/>
            <a:pPr>
              <a:defRPr sz="2400" b="1">
                <a:solidFill>
                  <a:srgbClr val="F05537"/>
                </a:solidFill>
                <a:latin typeface="Arial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